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0B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DB87A"/>
          </a:solidFill>
          <a:ln w="12700">
            <a:solidFill>
              <a:srgbClr val="1DB87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0"/>
            <a:ext cx="91440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E8EF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funciona el mercado</a:t>
            </a:r>
            <a:endParaRPr lang="en-US" sz="4200" dirty="0"/>
          </a:p>
          <a:p>
            <a:pPr algn="l" indent="0" marL="0">
              <a:buNone/>
            </a:pPr>
            <a:r>
              <a:rPr lang="en-US" sz="4200" b="1" dirty="0">
                <a:solidFill>
                  <a:srgbClr val="E8EF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verdad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DB8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Explicado como para niños — sin mentiras, sin tecnicismos raros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3337560"/>
            <a:ext cx="10972800" cy="36576"/>
          </a:xfrm>
          <a:prstGeom prst="rect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4747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Liquidez · Trampas · Divergencias RSI · Ciclos · Entradas y salidas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60B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11612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E8EF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mercado es como un mercadillo gigante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274320" y="566928"/>
            <a:ext cx="2377440" cy="45720"/>
          </a:xfrm>
          <a:prstGeom prst="rect">
            <a:avLst/>
          </a:prstGeom>
          <a:solidFill>
            <a:srgbClr val="1DB87A"/>
          </a:solidFill>
          <a:ln w="12700">
            <a:solidFill>
              <a:srgbClr val="1DB87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640080"/>
            <a:ext cx="1161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FA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Hay compradores, vendedores... y alguien que controla el precio del puesto.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0" y="100584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dirty="0">
                <a:solidFill>
                  <a:srgbClr val="000000"/>
                </a:solidFill>
              </a:rPr>
              <a:t>🏪</a:t>
            </a:r>
            <a:endParaRPr lang="en-US" sz="8000" dirty="0"/>
          </a:p>
        </p:txBody>
      </p:sp>
      <p:sp>
        <p:nvSpPr>
          <p:cNvPr id="6" name="Shape 4"/>
          <p:cNvSpPr/>
          <p:nvPr/>
        </p:nvSpPr>
        <p:spPr>
          <a:xfrm>
            <a:off x="274320" y="2286000"/>
            <a:ext cx="5303520" cy="3840480"/>
          </a:xfrm>
          <a:prstGeom prst="roundRect">
            <a:avLst>
              <a:gd name="adj" fmla="val 1905"/>
            </a:avLst>
          </a:prstGeom>
          <a:solidFill>
            <a:srgbClr val="13213A"/>
          </a:solidFill>
          <a:ln w="7620">
            <a:solidFill>
              <a:srgbClr val="1E30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423160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E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COMPRADORES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78892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8EF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Tú entras al mercadillo y compras manzanas a 1€.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8EF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Esperas que mañana valgan 1,20€ para venderlas.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8EF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 stop de seguridad dice: «si bajan a 0,80€, vendo para no perder más.»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943600" y="2286000"/>
            <a:ext cx="5577840" cy="3840480"/>
          </a:xfrm>
          <a:prstGeom prst="roundRect">
            <a:avLst>
              <a:gd name="adj" fmla="val 1905"/>
            </a:avLst>
          </a:prstGeom>
          <a:solidFill>
            <a:srgbClr val="13213A"/>
          </a:solidFill>
          <a:ln w="7620">
            <a:solidFill>
              <a:srgbClr val="1E30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26480" y="2423160"/>
            <a:ext cx="5212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VENDEDORES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126480" y="2788920"/>
            <a:ext cx="5212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8EF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Otro entra y vende manzanas porque cree que mañana valdrán 0,80€. Su stop dice: «si suben a 1,20€, compro para no perder más.»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5394960"/>
            <a:ext cx="11247120" cy="685800"/>
          </a:xfrm>
          <a:prstGeom prst="roundRect">
            <a:avLst>
              <a:gd name="adj" fmla="val 10667"/>
            </a:avLst>
          </a:prstGeom>
          <a:solidFill>
            <a:srgbClr val="0F1929"/>
          </a:solidFill>
          <a:ln w="7620">
            <a:solidFill>
              <a:srgbClr val="E8C8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54406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C8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 Clave: cuando saltas un stop de COMPRA → generas una VENTA automática. Cuando saltas un stop de VENTA → generas una COMPRA automática. Eso mueve el precio.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0B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11612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E8EF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liquidez es el botín escondido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274320" y="566928"/>
            <a:ext cx="2377440" cy="45720"/>
          </a:xfrm>
          <a:prstGeom prst="rect">
            <a:avLst/>
          </a:prstGeom>
          <a:solidFill>
            <a:srgbClr val="1DB87A"/>
          </a:solidFill>
          <a:ln w="12700">
            <a:solidFill>
              <a:srgbClr val="1DB87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640080"/>
            <a:ext cx="1161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FA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Imagina que hay monedas de oro enterradas en puntos exactos del precio.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0" y="914400"/>
            <a:ext cx="1828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0" dirty="0">
                <a:solidFill>
                  <a:srgbClr val="000000"/>
                </a:solidFill>
              </a:rPr>
              <a:t>💰</a:t>
            </a:r>
            <a:endParaRPr lang="en-US" sz="7000" dirty="0"/>
          </a:p>
        </p:txBody>
      </p:sp>
      <p:sp>
        <p:nvSpPr>
          <p:cNvPr id="6" name="Shape 4"/>
          <p:cNvSpPr/>
          <p:nvPr/>
        </p:nvSpPr>
        <p:spPr>
          <a:xfrm>
            <a:off x="274320" y="2103120"/>
            <a:ext cx="11247120" cy="1371600"/>
          </a:xfrm>
          <a:prstGeom prst="roundRect">
            <a:avLst>
              <a:gd name="adj" fmla="val 5333"/>
            </a:avLst>
          </a:prstGeom>
          <a:solidFill>
            <a:srgbClr val="13213A"/>
          </a:solidFill>
          <a:ln w="7620">
            <a:solidFill>
              <a:srgbClr val="1E30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2128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8C8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es la liquidez exactamente?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578608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8EF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Cuando tú pones una orden de compra con un stop loss en 1,80€, ese stop es una orden de VENTA esperando. Si el precio llega a 1,80€, tu stop salta y vende automáticamente. ESO es liquidez: órdenes acumuladas que el mercado necesita para moverse. Cuantas más órdenes apiladas en un precio, más botín hay ahí enterrado.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3657600"/>
            <a:ext cx="3474720" cy="2377440"/>
          </a:xfrm>
          <a:prstGeom prst="roundRect">
            <a:avLst>
              <a:gd name="adj" fmla="val 3077"/>
            </a:avLst>
          </a:prstGeom>
          <a:solidFill>
            <a:srgbClr val="0F1929"/>
          </a:solidFill>
          <a:ln w="7620">
            <a:solidFill>
              <a:srgbClr val="1E30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767328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C8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💰 Liquidez MENOR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411480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FA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Alto, bajo y mitad de la sesión asiática (la noche anterior). Dura un día.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931920" y="3657600"/>
            <a:ext cx="3474720" cy="2377440"/>
          </a:xfrm>
          <a:prstGeom prst="roundRect">
            <a:avLst>
              <a:gd name="adj" fmla="val 3077"/>
            </a:avLst>
          </a:prstGeom>
          <a:solidFill>
            <a:srgbClr val="0F1929"/>
          </a:solidFill>
          <a:ln w="7620">
            <a:solidFill>
              <a:srgbClr val="1E30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0" y="3767328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9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💰💰 Liquidez MEDIA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114800" y="411480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FA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Máximo y mínimo del día anterior (PDH / PDL). Órdenes de un día completo acumuladas.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589520" y="3657600"/>
            <a:ext cx="3931920" cy="2377440"/>
          </a:xfrm>
          <a:prstGeom prst="roundRect">
            <a:avLst>
              <a:gd name="adj" fmla="val 3077"/>
            </a:avLst>
          </a:prstGeom>
          <a:solidFill>
            <a:srgbClr val="0F1929"/>
          </a:solidFill>
          <a:ln w="7620">
            <a:solidFill>
              <a:srgbClr val="1E30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0" y="376732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💰💰💰 Liquidez MAYOR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772400" y="4114800"/>
            <a:ext cx="3566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FA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Máximo y mínimo de la semana o del mes. Órdenes que llevan semanas acumuladas. Las más potentes.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6126480"/>
            <a:ext cx="11247120" cy="548640"/>
          </a:xfrm>
          <a:prstGeom prst="roundRect">
            <a:avLst>
              <a:gd name="adj" fmla="val 13333"/>
            </a:avLst>
          </a:prstGeom>
          <a:solidFill>
            <a:srgbClr val="0F1929"/>
          </a:solidFill>
          <a:ln w="7620">
            <a:solidFill>
              <a:srgbClr val="1DB87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6172200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E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Regla de oro: a más tiempo acumulada → más potente. Un máximo de hace 3 semanas vale más que el de ayer.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0B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11612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E8EF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trampa — el mercado hace trampa siempre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274320" y="566928"/>
            <a:ext cx="2377440" cy="45720"/>
          </a:xfrm>
          <a:prstGeom prst="rect">
            <a:avLst/>
          </a:prstGeom>
          <a:solidFill>
            <a:srgbClr val="1DB87A"/>
          </a:solidFill>
          <a:ln w="12700">
            <a:solidFill>
              <a:srgbClr val="1DB87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640080"/>
            <a:ext cx="1161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FA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el cazabobos del bosque: te enseña queso, te metes... y clic.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0" y="914400"/>
            <a:ext cx="1828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0" dirty="0">
                <a:solidFill>
                  <a:srgbClr val="000000"/>
                </a:solidFill>
              </a:rPr>
              <a:t>🪤</a:t>
            </a:r>
            <a:endParaRPr lang="en-US" sz="7000" dirty="0"/>
          </a:p>
        </p:txBody>
      </p:sp>
      <p:sp>
        <p:nvSpPr>
          <p:cNvPr id="6" name="Shape 4"/>
          <p:cNvSpPr/>
          <p:nvPr/>
        </p:nvSpPr>
        <p:spPr>
          <a:xfrm>
            <a:off x="274320" y="2011680"/>
            <a:ext cx="7772400" cy="4206240"/>
          </a:xfrm>
          <a:prstGeom prst="roundRect">
            <a:avLst>
              <a:gd name="adj" fmla="val 1739"/>
            </a:avLst>
          </a:prstGeom>
          <a:solidFill>
            <a:srgbClr val="13213A"/>
          </a:solidFill>
          <a:ln w="7620">
            <a:solidFill>
              <a:srgbClr val="1E30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14884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funciona la trampa paso a paso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11480" y="2578608"/>
            <a:ext cx="347472" cy="347472"/>
          </a:xfrm>
          <a:prstGeom prst="ellipse">
            <a:avLst/>
          </a:prstGeom>
          <a:solidFill>
            <a:srgbClr val="1DB87A"/>
          </a:solidFill>
          <a:ln w="12700">
            <a:solidFill>
              <a:srgbClr val="1DB87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257860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41248" y="2542032"/>
            <a:ext cx="7040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8EF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precio sube tranquilo durante un rato. Todos creen que sube.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1480" y="3236976"/>
            <a:ext cx="347472" cy="347472"/>
          </a:xfrm>
          <a:prstGeom prst="ellipse">
            <a:avLst/>
          </a:prstGeom>
          <a:solidFill>
            <a:srgbClr val="E8C84A"/>
          </a:solidFill>
          <a:ln w="12700">
            <a:solidFill>
              <a:srgbClr val="E8C8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323697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41248" y="3200400"/>
            <a:ext cx="7040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8EF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repente el precio ROMPE el máximo del día. La gente piensa: «¡Sube más! ¡Compro!»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11480" y="3895344"/>
            <a:ext cx="347472" cy="347472"/>
          </a:xfrm>
          <a:prstGeom prst="ellipse">
            <a:avLst/>
          </a:prstGeom>
          <a:solidFill>
            <a:srgbClr val="FF9800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389534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41248" y="3858768"/>
            <a:ext cx="7040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8EF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También salta el stop loss de todos los que estaban vendiendo. Esas órdenes son COMPRAS automáticas.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11480" y="4553712"/>
            <a:ext cx="347472" cy="347472"/>
          </a:xfrm>
          <a:prstGeom prst="ellipse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455371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41248" y="4517136"/>
            <a:ext cx="7040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8EF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esas compras masivas el precio sube más aún. Todo el mundo compra.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11480" y="5212080"/>
            <a:ext cx="347472" cy="347472"/>
          </a:xfrm>
          <a:prstGeom prst="ellipse">
            <a:avLst/>
          </a:prstGeom>
          <a:solidFill>
            <a:srgbClr val="FF4455"/>
          </a:solidFill>
          <a:ln w="12700">
            <a:solidFill>
              <a:srgbClr val="FF44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521208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41248" y="5175504"/>
            <a:ext cx="7040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8EF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entonces... el precio se da la vuelta y cae. Los que compraron en el máximo, pierden.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229600" y="2011680"/>
            <a:ext cx="3291840" cy="4206240"/>
          </a:xfrm>
          <a:prstGeom prst="roundRect">
            <a:avLst>
              <a:gd name="adj" fmla="val 2222"/>
            </a:avLst>
          </a:prstGeom>
          <a:solidFill>
            <a:srgbClr val="0F1929"/>
          </a:solidFill>
          <a:ln w="7620">
            <a:solidFill>
              <a:srgbClr val="1E305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412480" y="2176272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8C8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🧀 El queso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412480" y="256032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FA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rotura del máximo es el queso. Te hace creer que el precio va a explotar.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412480" y="3520440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24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🪤 El clic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412480" y="388620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FA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precio vuelve abajo y te deja atrapado comprando en el máximo.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412480" y="4754880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E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Tu ventaja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412480" y="512064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FA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Tú ya sabes que es una trampa. Esperas a que pase... y entras al revés.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74320" y="6291072"/>
            <a:ext cx="11247120" cy="548640"/>
          </a:xfrm>
          <a:prstGeom prst="roundRect">
            <a:avLst>
              <a:gd name="adj" fmla="val 13333"/>
            </a:avLst>
          </a:prstGeom>
          <a:solidFill>
            <a:srgbClr val="0F1929"/>
          </a:solidFill>
          <a:ln w="7620">
            <a:solidFill>
              <a:srgbClr val="E24B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6336792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trampa no es mala suerte. Está diseñada. Ocurre siempre en los máximos y mínimos del día (HOD/LOD), del día anterior (PDH/PDL) y de la semana.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0B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11612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E8EF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ciclo: acumulación + inducción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274320" y="566928"/>
            <a:ext cx="2377440" cy="45720"/>
          </a:xfrm>
          <a:prstGeom prst="rect">
            <a:avLst/>
          </a:prstGeom>
          <a:solidFill>
            <a:srgbClr val="1DB87A"/>
          </a:solidFill>
          <a:ln w="12700">
            <a:solidFill>
              <a:srgbClr val="1DB87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640080"/>
            <a:ext cx="1161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FA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mercado se mueve en ciclos repetibles. Siempre. En cualquier temporalidad.</a:t>
            </a:r>
            <a:endParaRPr lang="en-US" sz="13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960120"/>
            <a:ext cx="11612880" cy="42062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74320" y="5257800"/>
            <a:ext cx="11247120" cy="914400"/>
          </a:xfrm>
          <a:prstGeom prst="roundRect">
            <a:avLst>
              <a:gd name="adj" fmla="val 8000"/>
            </a:avLst>
          </a:prstGeom>
          <a:solidFill>
            <a:srgbClr val="0F1929"/>
          </a:solidFill>
          <a:ln w="7620">
            <a:solidFill>
              <a:srgbClr val="E8C84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532180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C8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Dirección del movimiento = depende de la ACUMULACIÓN previa, no de la inducción.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5614416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FA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Acumulación alcista + inducción abajo → LARGO.  Acumulación alcista + inducción arriba → CORTO.  Y al revés para bajista.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0B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11612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E8EF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 largo y setup corto — cómo se ve en el gráfico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274320" y="566928"/>
            <a:ext cx="2377440" cy="45720"/>
          </a:xfrm>
          <a:prstGeom prst="rect">
            <a:avLst/>
          </a:prstGeom>
          <a:solidFill>
            <a:srgbClr val="1DB87A"/>
          </a:solidFill>
          <a:ln w="12700">
            <a:solidFill>
              <a:srgbClr val="1DB87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640080"/>
            <a:ext cx="1161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FA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 caras de la misma moneda. El proceso es idéntico, la dirección es opuesta.</a:t>
            </a:r>
            <a:endParaRPr lang="en-US" sz="13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868680"/>
            <a:ext cx="1161288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0B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11612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E8EF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RSI — el cuentarrevoluciones del motor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274320" y="566928"/>
            <a:ext cx="2377440" cy="45720"/>
          </a:xfrm>
          <a:prstGeom prst="rect">
            <a:avLst/>
          </a:prstGeom>
          <a:solidFill>
            <a:srgbClr val="1DB87A"/>
          </a:solidFill>
          <a:ln w="12700">
            <a:solidFill>
              <a:srgbClr val="1DB87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640080"/>
            <a:ext cx="1161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FA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Cuando el motor se embala sin acelerar más... algo está a punto de romperse.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5486400" cy="5212080"/>
          </a:xfrm>
          <a:prstGeom prst="roundRect">
            <a:avLst>
              <a:gd name="adj" fmla="val 1404"/>
            </a:avLst>
          </a:prstGeom>
          <a:solidFill>
            <a:srgbClr val="13213A"/>
          </a:solidFill>
          <a:ln w="7620">
            <a:solidFill>
              <a:srgbClr val="1E30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78992"/>
            <a:ext cx="5120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E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🏎️  La analogía del coche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5087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C8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PRECIO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148840" y="150876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8EF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 el coche. Va cuesta arriba.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1488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C8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RSI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148840" y="214884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8EF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 el cuentarrevoluciones (las RPM del motor).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27889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C8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RSI &gt; 70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148840" y="278892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8EF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motor está a tope. Sobrecompra.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34290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C8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RSI &lt; 30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148840" y="342900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8EF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motor está frenado. Sobreventa.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40690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C8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normal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148840" y="406908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8EF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motor y velocidad suben juntos.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47091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C8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Divergencia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148840" y="470916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8EF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coche sigue subiendo pero el motor ya no llega tan alto.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943600" y="960120"/>
            <a:ext cx="5577840" cy="2377440"/>
          </a:xfrm>
          <a:prstGeom prst="roundRect">
            <a:avLst>
              <a:gd name="adj" fmla="val 3077"/>
            </a:avLst>
          </a:prstGeom>
          <a:solidFill>
            <a:srgbClr val="0F1929"/>
          </a:solidFill>
          <a:ln w="7620">
            <a:solidFill>
              <a:srgbClr val="1E305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26480" y="1078992"/>
            <a:ext cx="5212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B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marchas del coche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035040" y="1536192"/>
            <a:ext cx="164592" cy="201168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63640" y="148132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E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RSI 72 en impulso 1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263640" y="1737360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FA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5ª marcha — motor a tope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035040" y="2011680"/>
            <a:ext cx="164592" cy="201168"/>
          </a:xfrm>
          <a:prstGeom prst="rect">
            <a:avLst/>
          </a:prstGeom>
          <a:solidFill>
            <a:srgbClr val="E8C84A"/>
          </a:solidFill>
          <a:ln w="12700">
            <a:solidFill>
              <a:srgbClr val="E8C8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63640" y="195681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8C8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RSI 64 en impulso 2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263640" y="221284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FA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3ª marcha — cuesta arriba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035040" y="2487168"/>
            <a:ext cx="164592" cy="201168"/>
          </a:xfrm>
          <a:prstGeom prst="rect">
            <a:avLst/>
          </a:prstGeom>
          <a:solidFill>
            <a:srgbClr val="FF9800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63640" y="2432304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9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RSI 56 en impulso 3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263640" y="2688336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FA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2ª marcha — petardeando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035040" y="2962656"/>
            <a:ext cx="164592" cy="201168"/>
          </a:xfrm>
          <a:prstGeom prst="rect">
            <a:avLst/>
          </a:prstGeom>
          <a:solidFill>
            <a:srgbClr val="FF4455"/>
          </a:solidFill>
          <a:ln w="12700">
            <a:solidFill>
              <a:srgbClr val="FF445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63640" y="290779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RSI no llega a 60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263640" y="3163824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FA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Punto muerto — para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943600" y="3429000"/>
            <a:ext cx="5577840" cy="2743200"/>
          </a:xfrm>
          <a:prstGeom prst="roundRect">
            <a:avLst>
              <a:gd name="adj" fmla="val 2667"/>
            </a:avLst>
          </a:prstGeom>
          <a:solidFill>
            <a:srgbClr val="0F1929"/>
          </a:solidFill>
          <a:ln w="7620">
            <a:solidFill>
              <a:srgbClr val="1E305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26480" y="3547872"/>
            <a:ext cx="5212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C6F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Divergencias — 3 niveles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035040" y="4059936"/>
            <a:ext cx="164592" cy="201168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63640" y="400507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8EF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N1 — corto (línea gruesa)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263640" y="4261104"/>
            <a:ext cx="4754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FA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lookback 5 velas. Señal inmediata.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035040" y="4562856"/>
            <a:ext cx="164592" cy="201168"/>
          </a:xfrm>
          <a:prstGeom prst="rect">
            <a:avLst/>
          </a:prstGeom>
          <a:solidFill>
            <a:srgbClr val="1DB87A"/>
          </a:solidFill>
          <a:ln w="12700">
            <a:solidFill>
              <a:srgbClr val="1DB87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63640" y="450799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8EF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N2 — medio (línea media)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263640" y="4764024"/>
            <a:ext cx="4754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FA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lookback 10 velas. Más confirmado.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035040" y="5065776"/>
            <a:ext cx="164592" cy="201168"/>
          </a:xfrm>
          <a:prstGeom prst="rect">
            <a:avLst/>
          </a:prstGeom>
          <a:solidFill>
            <a:srgbClr val="1DB87A"/>
          </a:solidFill>
          <a:ln w="12700">
            <a:solidFill>
              <a:srgbClr val="1DB87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263640" y="501091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8EF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N3 — largo (línea fina)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263640" y="5266944"/>
            <a:ext cx="4754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FA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lookback 20 velas. Máxima fiabilidad.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035040" y="5568696"/>
            <a:ext cx="164592" cy="201168"/>
          </a:xfrm>
          <a:prstGeom prst="rect">
            <a:avLst/>
          </a:prstGeom>
          <a:solidFill>
            <a:srgbClr val="9C6FE4"/>
          </a:solidFill>
          <a:ln w="12700">
            <a:solidFill>
              <a:srgbClr val="9C6FE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263640" y="551383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8EF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N1+N2+N3 juntos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263640" y="5769864"/>
            <a:ext cx="4754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FA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divergencia acumulada. La más potente.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274320" y="6236208"/>
            <a:ext cx="11247120" cy="594360"/>
          </a:xfrm>
          <a:prstGeom prst="roundRect">
            <a:avLst>
              <a:gd name="adj" fmla="val 12308"/>
            </a:avLst>
          </a:prstGeom>
          <a:solidFill>
            <a:srgbClr val="0F1929"/>
          </a:solidFill>
          <a:ln w="7620">
            <a:solidFill>
              <a:srgbClr val="E8C84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57200" y="6291072"/>
            <a:ext cx="10972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C8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Regla: si el tercer impulso del RSI no llega al nivel del primero → el motor ya no puede. Busca la trampa.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60B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11612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E8EF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filtros — el árbitro del partido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274320" y="566928"/>
            <a:ext cx="2377440" cy="45720"/>
          </a:xfrm>
          <a:prstGeom prst="rect">
            <a:avLst/>
          </a:prstGeom>
          <a:solidFill>
            <a:srgbClr val="1DB87A"/>
          </a:solidFill>
          <a:ln w="12700">
            <a:solidFill>
              <a:srgbClr val="1DB87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640080"/>
            <a:ext cx="1161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FA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entrar, confirmas con el índice que manda en ese activo. Si el árbitro no pita, no juegas.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5486400" cy="5303520"/>
          </a:xfrm>
          <a:prstGeom prst="roundRect">
            <a:avLst>
              <a:gd name="adj" fmla="val 1379"/>
            </a:avLst>
          </a:prstGeom>
          <a:solidFill>
            <a:srgbClr val="13213A"/>
          </a:solidFill>
          <a:ln w="7620">
            <a:solidFill>
              <a:srgbClr val="1E30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78992"/>
            <a:ext cx="5120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8C8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💵  DXI — Índice del Dólar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481328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FA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Afecta a: EURUSD · AUDUSD · USDJPY · GBPJPY · Gold · Silver · Oil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87452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8C8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Relación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783080" y="187452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8EF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DXI es opuesto a EURUSD. Si el euro sube, el dólar baja.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53288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8C8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dólar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783080" y="2532888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8EF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tiene el 57% del peso sobre el EURUSD. Manda él.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191256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8C8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Regla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783080" y="3191256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8EF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el euro da señal de venta pero el DXI no da señal de compra → NO ENTRES.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3849624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8C8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Regla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783080" y="3849624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8EF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el euro rompió el Alto de Asia pero el DXI no lo ha hecho al revés → espera.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50799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8C8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Cuándo entrar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783080" y="4507992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8EF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Cuando AMBOS dan la señal al mismo tiempo. Eso es confluencia doble.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943600" y="960120"/>
            <a:ext cx="5577840" cy="5303520"/>
          </a:xfrm>
          <a:prstGeom prst="roundRect">
            <a:avLst>
              <a:gd name="adj" fmla="val 1379"/>
            </a:avLst>
          </a:prstGeom>
          <a:solidFill>
            <a:srgbClr val="13213A"/>
          </a:solidFill>
          <a:ln w="7620">
            <a:solidFill>
              <a:srgbClr val="1E305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26480" y="1078992"/>
            <a:ext cx="5212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 VIX — Índice del Miedo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126480" y="1481328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FA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Afecta a: NDX · DJI · BTC-USD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126480" y="1874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Relación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543800" y="187452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8EF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VIX sube = miedo = bolsa baja. VIX baja = calma = bolsa sube.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126480" y="253288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NQ / NDX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543800" y="2532888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8EF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el NDX da señal de compra pero el VIX no cae → NO ENTRES.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126480" y="319125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BTC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543800" y="3191256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8EF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BTC copia al NDX. VIX alto = BTC cae. VIX bajo = BTC sube.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126480" y="384962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Regla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543800" y="3849624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8EF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NDX con divergencia alcista + VIX con divergencia bajista = señal perfecta.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126480" y="450799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543800" y="4507992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8EF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Inverso al DXI. Dólar fuerte = oro cae. Dólar débil = oro sube.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74320" y="6309360"/>
            <a:ext cx="11247120" cy="530352"/>
          </a:xfrm>
          <a:prstGeom prst="roundRect">
            <a:avLst>
              <a:gd name="adj" fmla="val 13793"/>
            </a:avLst>
          </a:prstGeom>
          <a:solidFill>
            <a:srgbClr val="0F1929"/>
          </a:solidFill>
          <a:ln w="7620">
            <a:solidFill>
              <a:srgbClr val="00BCD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6355080"/>
            <a:ext cx="10972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B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tienes la señal en el activo pero el filtro no la confirma = riesgo alto. Espera. La señal llega o no llega. Mejor perderse una que quemarse.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60B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11612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E8EF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horarios — cuándo el mercado está vivo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274320" y="566928"/>
            <a:ext cx="2377440" cy="45720"/>
          </a:xfrm>
          <a:prstGeom prst="rect">
            <a:avLst/>
          </a:prstGeom>
          <a:solidFill>
            <a:srgbClr val="1DB87A"/>
          </a:solidFill>
          <a:ln w="12700">
            <a:solidFill>
              <a:srgbClr val="1DB87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640080"/>
            <a:ext cx="1161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FA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todas las horas son iguales. Hay ventanas donde el mercado actúa. Fuera de ellas, espera.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11247120" cy="1078992"/>
          </a:xfrm>
          <a:prstGeom prst="roundRect">
            <a:avLst>
              <a:gd name="adj" fmla="val 6780"/>
            </a:avLst>
          </a:prstGeom>
          <a:solidFill>
            <a:srgbClr val="003A50"/>
          </a:solidFill>
          <a:ln w="7620">
            <a:solidFill>
              <a:srgbClr val="00BC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14984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🌏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188720" y="101498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B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23:00 → 07:00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88720" y="132588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8EF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Sesión ASIÁTICA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0" y="1014984"/>
            <a:ext cx="73152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FA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mercado duerme. Precio crea el rango asiático.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8FA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Alto de Asia (HA), Bajo de Asia (BA) y el 50% = Liquidez MENOR.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8FA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operes. Solo anota los niveles para mañana.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2103120"/>
            <a:ext cx="11247120" cy="1078992"/>
          </a:xfrm>
          <a:prstGeom prst="roundRect">
            <a:avLst>
              <a:gd name="adj" fmla="val 6780"/>
            </a:avLst>
          </a:prstGeom>
          <a:solidFill>
            <a:srgbClr val="3A1A00"/>
          </a:solidFill>
          <a:ln w="7620">
            <a:solidFill>
              <a:srgbClr val="FF98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2157984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⚠️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1188720" y="215798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9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07:00 → 09:00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188720" y="246888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8EF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Pre-Londres / Frankfurt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114800" y="2157984"/>
            <a:ext cx="73152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FA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famoso Judas Swing. El precio engaña.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8FA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Suele hacer un movimiento falso antes de Londres.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8FA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Cuidado: puede ser la trampa. No entres todavía.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3246120"/>
            <a:ext cx="11247120" cy="1078992"/>
          </a:xfrm>
          <a:prstGeom prst="roundRect">
            <a:avLst>
              <a:gd name="adj" fmla="val 6780"/>
            </a:avLst>
          </a:prstGeom>
          <a:solidFill>
            <a:srgbClr val="002A14"/>
          </a:solidFill>
          <a:ln w="7620">
            <a:solidFill>
              <a:srgbClr val="00E67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3300984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🇬🇧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1188720" y="330098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E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09:00 → 11:00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188720" y="361188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8EF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Apertura LONDRES ★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114800" y="3300984"/>
            <a:ext cx="73152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FA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ventana principal. El precio liquida el rango asiático.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8FA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Aquí ocurre la trampa y el POI.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8FA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10:30 es el momento más activo. 10 min antes y después.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4389120"/>
            <a:ext cx="11247120" cy="1078992"/>
          </a:xfrm>
          <a:prstGeom prst="roundRect">
            <a:avLst>
              <a:gd name="adj" fmla="val 6780"/>
            </a:avLst>
          </a:prstGeom>
          <a:solidFill>
            <a:srgbClr val="2A2400"/>
          </a:solidFill>
          <a:ln w="7620">
            <a:solidFill>
              <a:srgbClr val="FFE06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4443984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⚡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1188720" y="444398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E0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12:20 → 12:40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188720" y="475488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8EF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Medio día — 2ª ventana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114800" y="4443984"/>
            <a:ext cx="73152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FA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Segunda oportunidad del día.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8FA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precio suele moverse aquí también.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8FA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Descansa entre las 11 y las 12:20.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74320" y="5532120"/>
            <a:ext cx="11247120" cy="1078992"/>
          </a:xfrm>
          <a:prstGeom prst="roundRect">
            <a:avLst>
              <a:gd name="adj" fmla="val 6780"/>
            </a:avLst>
          </a:prstGeom>
          <a:solidFill>
            <a:srgbClr val="1A0A30"/>
          </a:solidFill>
          <a:ln w="7620">
            <a:solidFill>
              <a:srgbClr val="9C6FE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5586984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🔔</a:t>
            </a:r>
            <a:endParaRPr lang="en-US" sz="3200" dirty="0"/>
          </a:p>
        </p:txBody>
      </p:sp>
      <p:sp>
        <p:nvSpPr>
          <p:cNvPr id="27" name="Text 25"/>
          <p:cNvSpPr/>
          <p:nvPr/>
        </p:nvSpPr>
        <p:spPr>
          <a:xfrm>
            <a:off x="1188720" y="558698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9C6F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17:00 → 17:30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188720" y="589788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8EF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Cierre de Londres ★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114800" y="5586984"/>
            <a:ext cx="73152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FA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Momento de cambio muy potente.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8FA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precio suele marcar el giro del día o confirmar.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8FA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Muchas veces el mejor momento de toda la sesión.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0B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11612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E8EF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confluencias — la lista de comprobación antes de entrar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274320" y="566928"/>
            <a:ext cx="2377440" cy="45720"/>
          </a:xfrm>
          <a:prstGeom prst="rect">
            <a:avLst/>
          </a:prstGeom>
          <a:solidFill>
            <a:srgbClr val="1DB87A"/>
          </a:solidFill>
          <a:ln w="12700">
            <a:solidFill>
              <a:srgbClr val="1DB87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640080"/>
            <a:ext cx="1161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FA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Cuantas más coincidan al mismo tiempo, más segura es la operación. Mínimo 5 para novatos.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8229600" cy="658368"/>
          </a:xfrm>
          <a:prstGeom prst="roundRect">
            <a:avLst>
              <a:gd name="adj" fmla="val 11111"/>
            </a:avLst>
          </a:prstGeom>
          <a:solidFill>
            <a:srgbClr val="13213A"/>
          </a:solidFill>
          <a:ln w="7620">
            <a:solidFill>
              <a:srgbClr val="0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51560"/>
            <a:ext cx="384048" cy="384048"/>
          </a:xfrm>
          <a:prstGeom prst="ellipse">
            <a:avLst/>
          </a:prstGeom>
          <a:solidFill>
            <a:srgbClr val="9C6FE4"/>
          </a:solidFill>
          <a:ln w="12700">
            <a:solidFill>
              <a:srgbClr val="9C6F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515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98755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EF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Divergencia RSI activa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128016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FA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N1 mínimo. Mejor si N1+N2 o N1+N2+N3.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595360" y="1005840"/>
            <a:ext cx="2834640" cy="475488"/>
          </a:xfrm>
          <a:prstGeom prst="roundRect">
            <a:avLst>
              <a:gd name="adj" fmla="val 15385"/>
            </a:avLst>
          </a:prstGeom>
          <a:solidFill>
            <a:srgbClr val="000000"/>
          </a:solidFill>
          <a:ln w="7620">
            <a:solidFill>
              <a:srgbClr val="9C6FE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95360" y="1005840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C6F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1-3 pts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4320" y="1627632"/>
            <a:ext cx="8229600" cy="658368"/>
          </a:xfrm>
          <a:prstGeom prst="roundRect">
            <a:avLst>
              <a:gd name="adj" fmla="val 11111"/>
            </a:avLst>
          </a:prstGeom>
          <a:solidFill>
            <a:srgbClr val="0F1929"/>
          </a:solidFill>
          <a:ln w="7620">
            <a:solidFill>
              <a:srgbClr val="0000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1764792"/>
            <a:ext cx="384048" cy="384048"/>
          </a:xfrm>
          <a:prstGeom prst="ellipse">
            <a:avLst/>
          </a:prstGeom>
          <a:solidFill>
            <a:srgbClr val="E8C84A"/>
          </a:solidFill>
          <a:ln w="12700">
            <a:solidFill>
              <a:srgbClr val="E8C8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7647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2960" y="1700784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EF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HOD / LOD o PDH / PDL cerca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2960" y="19933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FA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precio está en zona de liquidez conocida.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595360" y="1719072"/>
            <a:ext cx="2834640" cy="475488"/>
          </a:xfrm>
          <a:prstGeom prst="roundRect">
            <a:avLst>
              <a:gd name="adj" fmla="val 15385"/>
            </a:avLst>
          </a:prstGeom>
          <a:solidFill>
            <a:srgbClr val="000000"/>
          </a:solidFill>
          <a:ln w="7620">
            <a:solidFill>
              <a:srgbClr val="E8C8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95360" y="1719072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C8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pts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74320" y="2340864"/>
            <a:ext cx="8229600" cy="658368"/>
          </a:xfrm>
          <a:prstGeom prst="roundRect">
            <a:avLst>
              <a:gd name="adj" fmla="val 11111"/>
            </a:avLst>
          </a:prstGeom>
          <a:solidFill>
            <a:srgbClr val="13213A"/>
          </a:solidFill>
          <a:ln w="7620">
            <a:solidFill>
              <a:srgbClr val="0000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2478024"/>
            <a:ext cx="384048" cy="384048"/>
          </a:xfrm>
          <a:prstGeom prst="ellipse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247802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22960" y="2414016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EF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inducción (estirón) ya ocurrió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22960" y="270662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FA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precio rompió el HOD/LOD y volvió. Trampa confirmada.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595360" y="2432304"/>
            <a:ext cx="2834640" cy="475488"/>
          </a:xfrm>
          <a:prstGeom prst="roundRect">
            <a:avLst>
              <a:gd name="adj" fmla="val 15385"/>
            </a:avLst>
          </a:prstGeom>
          <a:solidFill>
            <a:srgbClr val="000000"/>
          </a:solidFill>
          <a:ln w="7620">
            <a:solidFill>
              <a:srgbClr val="E24B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595360" y="2432304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24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pts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274320" y="3054096"/>
            <a:ext cx="8229600" cy="658368"/>
          </a:xfrm>
          <a:prstGeom prst="roundRect">
            <a:avLst>
              <a:gd name="adj" fmla="val 11111"/>
            </a:avLst>
          </a:prstGeom>
          <a:solidFill>
            <a:srgbClr val="0F1929"/>
          </a:solidFill>
          <a:ln w="7620">
            <a:solidFill>
              <a:srgbClr val="00000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" y="3191256"/>
            <a:ext cx="384048" cy="384048"/>
          </a:xfrm>
          <a:prstGeom prst="ellipse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19125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22960" y="312724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EF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FVG activo en la dirección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22960" y="3419856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FA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Hay un vacío de precio sin cubrir hacia donde va el movimiento.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8595360" y="3145536"/>
            <a:ext cx="2834640" cy="475488"/>
          </a:xfrm>
          <a:prstGeom prst="roundRect">
            <a:avLst>
              <a:gd name="adj" fmla="val 15385"/>
            </a:avLst>
          </a:prstGeom>
          <a:solidFill>
            <a:srgbClr val="000000"/>
          </a:solidFill>
          <a:ln w="7620">
            <a:solidFill>
              <a:srgbClr val="00E67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595360" y="3145536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E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pts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274320" y="3767328"/>
            <a:ext cx="8229600" cy="658368"/>
          </a:xfrm>
          <a:prstGeom prst="roundRect">
            <a:avLst>
              <a:gd name="adj" fmla="val 11111"/>
            </a:avLst>
          </a:prstGeom>
          <a:solidFill>
            <a:srgbClr val="13213A"/>
          </a:solidFill>
          <a:ln w="7620">
            <a:solidFill>
              <a:srgbClr val="00000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65760" y="3904488"/>
            <a:ext cx="384048" cy="384048"/>
          </a:xfrm>
          <a:prstGeom prst="ellipse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39044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822960" y="384048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EF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Filtro del índice confirma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822960" y="413308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FA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DXI o VIX dan la señal contraria en el mismo momento.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8595360" y="3858768"/>
            <a:ext cx="2834640" cy="475488"/>
          </a:xfrm>
          <a:prstGeom prst="roundRect">
            <a:avLst>
              <a:gd name="adj" fmla="val 15385"/>
            </a:avLst>
          </a:prstGeom>
          <a:solidFill>
            <a:srgbClr val="000000"/>
          </a:solidFill>
          <a:ln w="7620">
            <a:solidFill>
              <a:srgbClr val="00BCD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595360" y="3858768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pts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274320" y="4480560"/>
            <a:ext cx="8229600" cy="658368"/>
          </a:xfrm>
          <a:prstGeom prst="roundRect">
            <a:avLst>
              <a:gd name="adj" fmla="val 11111"/>
            </a:avLst>
          </a:prstGeom>
          <a:solidFill>
            <a:srgbClr val="0F1929"/>
          </a:solidFill>
          <a:ln w="7620">
            <a:solidFill>
              <a:srgbClr val="00000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65760" y="4617720"/>
            <a:ext cx="384048" cy="384048"/>
          </a:xfrm>
          <a:prstGeom prst="ellips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5760" y="46177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822960" y="455371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EF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Horario activo (ventana)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822960" y="484632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FA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Estamos en apertura Londres, 10:30, 12:30 o cierre Londres.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8595360" y="4572000"/>
            <a:ext cx="2834640" cy="475488"/>
          </a:xfrm>
          <a:prstGeom prst="roundRect">
            <a:avLst>
              <a:gd name="adj" fmla="val 15385"/>
            </a:avLst>
          </a:prstGeom>
          <a:solidFill>
            <a:srgbClr val="000000"/>
          </a:solidFill>
          <a:ln w="7620">
            <a:solidFill>
              <a:srgbClr val="FFE06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595360" y="4572000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E0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pt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274320" y="5193792"/>
            <a:ext cx="8229600" cy="658368"/>
          </a:xfrm>
          <a:prstGeom prst="roundRect">
            <a:avLst>
              <a:gd name="adj" fmla="val 11111"/>
            </a:avLst>
          </a:prstGeom>
          <a:solidFill>
            <a:srgbClr val="13213A"/>
          </a:solidFill>
          <a:ln w="7620">
            <a:solidFill>
              <a:srgbClr val="00000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65760" y="5330952"/>
            <a:ext cx="384048" cy="384048"/>
          </a:xfrm>
          <a:prstGeom prst="ellipse">
            <a:avLst/>
          </a:prstGeom>
          <a:solidFill>
            <a:srgbClr val="FF9800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65760" y="533095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822960" y="5266944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EF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Patrón de vela de entrada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822960" y="555955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FA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Martillo, envolvente o pin bar en el POI en 1 minuto.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8595360" y="5285232"/>
            <a:ext cx="2834640" cy="475488"/>
          </a:xfrm>
          <a:prstGeom prst="roundRect">
            <a:avLst>
              <a:gd name="adj" fmla="val 15385"/>
            </a:avLst>
          </a:prstGeom>
          <a:solidFill>
            <a:srgbClr val="000000"/>
          </a:solidFill>
          <a:ln w="7620">
            <a:solidFill>
              <a:srgbClr val="FF980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595360" y="5285232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9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pt</a:t>
            </a:r>
            <a:endParaRPr lang="en-US" sz="1300" dirty="0"/>
          </a:p>
        </p:txBody>
      </p:sp>
      <p:sp>
        <p:nvSpPr>
          <p:cNvPr id="54" name="Shape 52"/>
          <p:cNvSpPr/>
          <p:nvPr/>
        </p:nvSpPr>
        <p:spPr>
          <a:xfrm>
            <a:off x="274320" y="5907024"/>
            <a:ext cx="8229600" cy="658368"/>
          </a:xfrm>
          <a:prstGeom prst="roundRect">
            <a:avLst>
              <a:gd name="adj" fmla="val 11111"/>
            </a:avLst>
          </a:prstGeom>
          <a:solidFill>
            <a:srgbClr val="0F1929"/>
          </a:solidFill>
          <a:ln w="7620">
            <a:solidFill>
              <a:srgbClr val="00000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65760" y="6044184"/>
            <a:ext cx="384048" cy="384048"/>
          </a:xfrm>
          <a:prstGeom prst="ellipse">
            <a:avLst/>
          </a:prstGeom>
          <a:solidFill>
            <a:srgbClr val="8FA8C8"/>
          </a:solidFill>
          <a:ln w="12700">
            <a:solidFill>
              <a:srgbClr val="8FA8C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65760" y="604418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400" dirty="0"/>
          </a:p>
        </p:txBody>
      </p:sp>
      <p:sp>
        <p:nvSpPr>
          <p:cNvPr id="57" name="Text 55"/>
          <p:cNvSpPr/>
          <p:nvPr/>
        </p:nvSpPr>
        <p:spPr>
          <a:xfrm>
            <a:off x="822960" y="5980176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EF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 ya liquidada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822960" y="627278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FA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Alto o Bajo de Asia ya fue barrido. Da dirección.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8595360" y="5998464"/>
            <a:ext cx="2834640" cy="475488"/>
          </a:xfrm>
          <a:prstGeom prst="roundRect">
            <a:avLst>
              <a:gd name="adj" fmla="val 15385"/>
            </a:avLst>
          </a:prstGeom>
          <a:solidFill>
            <a:srgbClr val="000000"/>
          </a:solidFill>
          <a:ln w="7620">
            <a:solidFill>
              <a:srgbClr val="8FA8C8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595360" y="5998464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FA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pt</a:t>
            </a:r>
            <a:endParaRPr lang="en-US" sz="1300" dirty="0"/>
          </a:p>
        </p:txBody>
      </p:sp>
      <p:sp>
        <p:nvSpPr>
          <p:cNvPr id="61" name="Shape 59"/>
          <p:cNvSpPr/>
          <p:nvPr/>
        </p:nvSpPr>
        <p:spPr>
          <a:xfrm>
            <a:off x="274320" y="6583680"/>
            <a:ext cx="8229600" cy="292608"/>
          </a:xfrm>
          <a:prstGeom prst="roundRect">
            <a:avLst>
              <a:gd name="adj" fmla="val 25000"/>
            </a:avLst>
          </a:prstGeom>
          <a:solidFill>
            <a:srgbClr val="0F1929"/>
          </a:solidFill>
          <a:ln w="7620">
            <a:solidFill>
              <a:srgbClr val="1E305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57200" y="6601968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FA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posible: 12 pts  |  ≥7 = FAVORABLE (alerta)  |  5-6 = INTERESANTE  |  3-4 = CONSIDERAR  |  &lt;3 = NO AHORA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8595360" y="6583680"/>
            <a:ext cx="2834640" cy="292608"/>
          </a:xfrm>
          <a:prstGeom prst="roundRect">
            <a:avLst>
              <a:gd name="adj" fmla="val 25000"/>
            </a:avLst>
          </a:prstGeom>
          <a:solidFill>
            <a:srgbClr val="1E3050"/>
          </a:solidFill>
          <a:ln w="7620">
            <a:solidFill>
              <a:srgbClr val="1E305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595360" y="6601968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EF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– 12 pts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60B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11612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E8EF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Dónde entrar, dónde poner el stop y dónde salir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274320" y="566928"/>
            <a:ext cx="2377440" cy="45720"/>
          </a:xfrm>
          <a:prstGeom prst="rect">
            <a:avLst/>
          </a:prstGeom>
          <a:solidFill>
            <a:srgbClr val="1DB87A"/>
          </a:solidFill>
          <a:ln w="12700">
            <a:solidFill>
              <a:srgbClr val="1DB87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640080"/>
            <a:ext cx="1161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FA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regla más importante del trading: saber cuánto pierdes ANTES de saber cuánto ganas.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3566160" cy="5394960"/>
          </a:xfrm>
          <a:prstGeom prst="roundRect">
            <a:avLst>
              <a:gd name="adj" fmla="val 2051"/>
            </a:avLst>
          </a:prstGeom>
          <a:solidFill>
            <a:srgbClr val="13213A"/>
          </a:solidFill>
          <a:ln w="7620">
            <a:solidFill>
              <a:srgbClr val="1DB87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78992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E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ENTRADA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150876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E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1508760"/>
            <a:ext cx="3017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8EF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precio entra en el FVG más cercano tras la trampa.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2167128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E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2167128"/>
            <a:ext cx="3017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8EF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temporalidad 5 minutos marcas el POI.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2825496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E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85800" y="2825496"/>
            <a:ext cx="3017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8EF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Bajas a 1 minuto para afinar la vela de entrada.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1480" y="3483864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E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85800" y="3483864"/>
            <a:ext cx="3017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8EF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Esperas martillo, envolvente o pin bar dentro del POI.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11480" y="4142232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E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85800" y="4142232"/>
            <a:ext cx="3017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8EF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no hay patrón de vela claro, no entras. Hay más mañana.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977640" y="960120"/>
            <a:ext cx="3566160" cy="5394960"/>
          </a:xfrm>
          <a:prstGeom prst="roundRect">
            <a:avLst>
              <a:gd name="adj" fmla="val 2051"/>
            </a:avLst>
          </a:prstGeom>
          <a:solidFill>
            <a:srgbClr val="13213A"/>
          </a:solidFill>
          <a:ln w="7620">
            <a:solidFill>
              <a:srgbClr val="E24B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0" y="1078992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 STOP LOSS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114800" y="150876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389120" y="1508760"/>
            <a:ext cx="3017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8EF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LARGO: justo por encima del máximo del estirón.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114800" y="2167128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389120" y="2167128"/>
            <a:ext cx="3017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8EF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CORTO: justo por debajo del mínimo del estirón.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114800" y="2825496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389120" y="2825496"/>
            <a:ext cx="3017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8EF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Nunca por debajo del mínimo anterior (es demasiado grande).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114800" y="3483864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389120" y="3483864"/>
            <a:ext cx="3017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8EF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el precio está en el POI correcto, el stop es muy pequeño.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114800" y="4142232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389120" y="4142232"/>
            <a:ext cx="3017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8EF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el stop que necesitas es muy grande → la zona es incorrecta.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680960" y="960120"/>
            <a:ext cx="3840480" cy="5394960"/>
          </a:xfrm>
          <a:prstGeom prst="roundRect">
            <a:avLst>
              <a:gd name="adj" fmla="val 1905"/>
            </a:avLst>
          </a:prstGeom>
          <a:solidFill>
            <a:srgbClr val="13213A"/>
          </a:solidFill>
          <a:ln w="7620">
            <a:solidFill>
              <a:srgbClr val="00BCD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818120" y="1078992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B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🏁 TAKE PROFIT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818120" y="150876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B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092440" y="1508760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8EF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mínimo: ratio 1:2 (arriesgás 50€ → objetivo 100€).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818120" y="2167128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B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092440" y="2167128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8EF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LARGO: LOD del día, siguiente FVG bajista, PDL.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818120" y="2825496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B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092440" y="2825496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8EF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CORTO: HOD del día, siguiente FVG alcista, PDH.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818120" y="3483864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B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8092440" y="3483864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8EF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hay liquidez mayor (semana) en el camino, es tu gran objetivo.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818120" y="4142232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B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8092440" y="4142232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8EF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esperes el máximo del día si tienes 1:3 en el camino.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274320" y="6446520"/>
            <a:ext cx="11247120" cy="384048"/>
          </a:xfrm>
          <a:prstGeom prst="roundRect">
            <a:avLst>
              <a:gd name="adj" fmla="val 19048"/>
            </a:avLst>
          </a:prstGeom>
          <a:solidFill>
            <a:srgbClr val="0F1929"/>
          </a:solidFill>
          <a:ln w="7620">
            <a:solidFill>
              <a:srgbClr val="E8C84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7200" y="64922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8C8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 Even: en cuanto el precio se aleja del POI y no ha vuelto → mueve el stop al punto de entrada. Ya no puedes perder.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60B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11612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E8EF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Normas de la casa — las que nadie quiere leer pero salvan el capital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274320" y="566928"/>
            <a:ext cx="2377440" cy="45720"/>
          </a:xfrm>
          <a:prstGeom prst="rect">
            <a:avLst/>
          </a:prstGeom>
          <a:solidFill>
            <a:srgbClr val="1DB87A"/>
          </a:solidFill>
          <a:ln w="12700">
            <a:solidFill>
              <a:srgbClr val="1DB87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640080"/>
            <a:ext cx="1161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FA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90% de los traders que pierden las conocen. El error es no aplicarlas.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11247120" cy="841248"/>
          </a:xfrm>
          <a:prstGeom prst="roundRect">
            <a:avLst>
              <a:gd name="adj" fmla="val 8696"/>
            </a:avLst>
          </a:prstGeom>
          <a:solidFill>
            <a:srgbClr val="13213A"/>
          </a:solidFill>
          <a:ln w="7620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987552"/>
            <a:ext cx="731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1️⃣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097280" y="98755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24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stop loss = para.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97280" y="1335024"/>
            <a:ext cx="10241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8EF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te salta un stop y la dirección era correcta, puedes buscar una segunda entrada. Si te salta y la dirección era incorrecta: cierra el gráfico. Vuelve al siguiente timing.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1828800"/>
            <a:ext cx="11247120" cy="841248"/>
          </a:xfrm>
          <a:prstGeom prst="roundRect">
            <a:avLst>
              <a:gd name="adj" fmla="val 8696"/>
            </a:avLst>
          </a:prstGeom>
          <a:solidFill>
            <a:srgbClr val="0F1929"/>
          </a:solidFill>
          <a:ln w="762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901952"/>
            <a:ext cx="731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2️⃣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1097280" y="190195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9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Máximo 1% de riesgo por operación.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97280" y="2249424"/>
            <a:ext cx="10241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8EF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tienes 5.000€, arriesgas 50€ por trade. Si arriesgas 500€ y pierdes 3 veces seguidas → psicología destruida.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2743200"/>
            <a:ext cx="11247120" cy="841248"/>
          </a:xfrm>
          <a:prstGeom prst="roundRect">
            <a:avLst>
              <a:gd name="adj" fmla="val 8696"/>
            </a:avLst>
          </a:prstGeom>
          <a:solidFill>
            <a:srgbClr val="13213A"/>
          </a:solidFill>
          <a:ln w="7620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2816352"/>
            <a:ext cx="731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3️⃣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1097280" y="281635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8C8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persigas el precio.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97280" y="3163824"/>
            <a:ext cx="10241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8EF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el precio ya está lejos del POI y quieres entrar igual → no entres. Esa entrada ya pasó. Habrá más. El mercado abre todos los días.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3657600"/>
            <a:ext cx="11247120" cy="841248"/>
          </a:xfrm>
          <a:prstGeom prst="roundRect">
            <a:avLst>
              <a:gd name="adj" fmla="val 8696"/>
            </a:avLst>
          </a:prstGeom>
          <a:solidFill>
            <a:srgbClr val="0F1929"/>
          </a:solidFill>
          <a:ln w="7620">
            <a:solidFill>
              <a:srgbClr val="000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3730752"/>
            <a:ext cx="731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4️⃣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1097280" y="373075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E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operes lunes ni viernes.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97280" y="4078224"/>
            <a:ext cx="10241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8EF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lunes el precio todavía está buscando dirección. El viernes cierra posiciones y hace ruido. El martes, miércoles y jueves son los mejores días.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4572000"/>
            <a:ext cx="11247120" cy="841248"/>
          </a:xfrm>
          <a:prstGeom prst="roundRect">
            <a:avLst>
              <a:gd name="adj" fmla="val 8696"/>
            </a:avLst>
          </a:prstGeom>
          <a:solidFill>
            <a:srgbClr val="13213A"/>
          </a:solidFill>
          <a:ln w="7620">
            <a:solidFill>
              <a:srgbClr val="0000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4645152"/>
            <a:ext cx="731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5️⃣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1097280" y="464515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B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no lo ves claro, no entres.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97280" y="4992624"/>
            <a:ext cx="10241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8EF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duda es señal. Si tienes que convencerte de que esa entrada es buena... no lo es. Las buenas entradas se ven solas. Hay una mañana también.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74320" y="5486400"/>
            <a:ext cx="11247120" cy="841248"/>
          </a:xfrm>
          <a:prstGeom prst="roundRect">
            <a:avLst>
              <a:gd name="adj" fmla="val 8696"/>
            </a:avLst>
          </a:prstGeom>
          <a:solidFill>
            <a:srgbClr val="0F1929"/>
          </a:solidFill>
          <a:ln w="7620">
            <a:solidFill>
              <a:srgbClr val="0000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5559552"/>
            <a:ext cx="731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6️⃣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1097280" y="555955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C6F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trade bueno = para la mañana.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97280" y="5907024"/>
            <a:ext cx="10241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8EF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tienes una operación positiva, cierra el gráfico. No busques más. La segunda operación normalmente viene desde el ego, no desde el análisis.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60B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11612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E8EF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estrategia completa en una sola página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274320" y="566928"/>
            <a:ext cx="2377440" cy="45720"/>
          </a:xfrm>
          <a:prstGeom prst="rect">
            <a:avLst/>
          </a:prstGeom>
          <a:solidFill>
            <a:srgbClr val="1DB87A"/>
          </a:solidFill>
          <a:ln w="12700">
            <a:solidFill>
              <a:srgbClr val="1DB87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640080"/>
            <a:ext cx="1161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FA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 lo que has aprendido, resumido. Imprime esta y ponla donde operes.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3657600" cy="5943600"/>
          </a:xfrm>
          <a:prstGeom prst="roundRect">
            <a:avLst>
              <a:gd name="adj" fmla="val 2000"/>
            </a:avLst>
          </a:prstGeom>
          <a:solidFill>
            <a:srgbClr val="13213A"/>
          </a:solidFill>
          <a:ln w="7620">
            <a:solidFill>
              <a:srgbClr val="1E30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24128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B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operar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46304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🌏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68680" y="146304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8EF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 qué hizo Asia. Anotar HA, BA y 50%.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2267712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68680" y="2267712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8EF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 PDH y PDL del día anterior.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3072384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868680" y="3072384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8EF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Identificar la inducción más fuerte de Asia.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" y="3877056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📈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68680" y="3877056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8EF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Abrir DXI (o VIX para índices).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4681728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⏰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868680" y="4681728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8EF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Esperar la ventana horaria: 9h, 10:30, 12:30 o cierre.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114800" y="914400"/>
            <a:ext cx="3657600" cy="5943600"/>
          </a:xfrm>
          <a:prstGeom prst="roundRect">
            <a:avLst>
              <a:gd name="adj" fmla="val 2000"/>
            </a:avLst>
          </a:prstGeom>
          <a:solidFill>
            <a:srgbClr val="13213A"/>
          </a:solidFill>
          <a:ln w="7620">
            <a:solidFill>
              <a:srgbClr val="1E30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51960" y="1024128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8C8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DURANTE la operación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206240" y="146304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🪤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709160" y="146304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8EF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 acumulación + inducción. La trampa aparece.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206240" y="2267712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709160" y="2267712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8EF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Identificar FVG activo cerca del HOD/LOD.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206240" y="3072384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📉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4709160" y="3072384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8EF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Confirmar divergencia RSI (N1 mínimo).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206240" y="3877056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✅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4709160" y="3877056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8EF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Comprobar filtro (DXI o VIX) en mismo sentido.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206240" y="4681728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4709160" y="4681728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8EF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Esperar patrón de vela en 1 minuto → ENTRAR.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955280" y="914400"/>
            <a:ext cx="3840480" cy="5943600"/>
          </a:xfrm>
          <a:prstGeom prst="roundRect">
            <a:avLst>
              <a:gd name="adj" fmla="val 1905"/>
            </a:avLst>
          </a:prstGeom>
          <a:solidFill>
            <a:srgbClr val="13213A"/>
          </a:solidFill>
          <a:ln w="7620">
            <a:solidFill>
              <a:srgbClr val="1E305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092440" y="1024128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E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GESTIÓN de la operación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046720" y="146304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🛡️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8549640" y="146304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8EF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 Loss: sobre el máximo del estirón (pequeño).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046720" y="2267712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🏁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8549640" y="2267712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8EF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 Profit: LOD/HOD o ratio mínimo 1:2.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046720" y="3072384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↔️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8549640" y="3072384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8EF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 Even: en cuanto el precio se aleja, mueve el SL.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8046720" y="3877056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1️⃣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8549640" y="3877056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8EF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ganas: cierra y para. La mañana es tuya.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046720" y="4681728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✋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8549640" y="4681728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8EF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pierdes: para. Siguiente timing o siguiente día.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274320" y="6949440"/>
            <a:ext cx="11247120" cy="347472"/>
          </a:xfrm>
          <a:prstGeom prst="roundRect">
            <a:avLst>
              <a:gd name="adj" fmla="val 21053"/>
            </a:avLst>
          </a:prstGeom>
          <a:solidFill>
            <a:srgbClr val="0F1929"/>
          </a:solidFill>
          <a:ln w="7620">
            <a:solidFill>
              <a:srgbClr val="00E67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7200" y="69951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E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la mayoría ve: el precio sube → compro.  Lo que tú ves: el motor falla → espero la trampa → entro en el FVG → ratio 1:2 mínimo.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60B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DB87A"/>
          </a:solidFill>
          <a:ln w="12700">
            <a:solidFill>
              <a:srgbClr val="1DB87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8EF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mercado hace trampa siempre.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00E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Ahora ya sabes reconocerla.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2880360"/>
            <a:ext cx="10972800" cy="36576"/>
          </a:xfrm>
          <a:prstGeom prst="rect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01752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Liquidez → Trampa → FVG → Divergencia → Filtro → Entrada → SL → TP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3566160"/>
            <a:ext cx="10972800" cy="36576"/>
          </a:xfrm>
          <a:prstGeom prst="rect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749040"/>
            <a:ext cx="10972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Matrix Lab  ·  Análisis Técnico Automatizado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The Matrix Lab</dc:creator>
  <cp:lastModifiedBy>The Matrix Lab</cp:lastModifiedBy>
  <cp:revision>1</cp:revision>
  <dcterms:created xsi:type="dcterms:W3CDTF">2026-07-10T20:25:14Z</dcterms:created>
  <dcterms:modified xsi:type="dcterms:W3CDTF">2026-07-10T20:25:14Z</dcterms:modified>
</cp:coreProperties>
</file>